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jpeg"/>
  <Override PartName="/ppt/media/image12.jp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3" r:id="rId6"/>
    <p:sldId id="266" r:id="rId7"/>
    <p:sldId id="261" r:id="rId8"/>
    <p:sldId id="258" r:id="rId9"/>
    <p:sldId id="262" r:id="rId10"/>
    <p:sldId id="264" r:id="rId11"/>
  </p:sldIdLst>
  <p:sldSz cx="132730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F7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38"/>
    <p:restoredTop sz="96973"/>
  </p:normalViewPr>
  <p:slideViewPr>
    <p:cSldViewPr snapToGrid="0" snapToObjects="1">
      <p:cViewPr>
        <p:scale>
          <a:sx n="167" d="100"/>
          <a:sy n="167" d="100"/>
        </p:scale>
        <p:origin x="14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477CB-9B04-144A-9C79-7A056029D14C}" type="datetimeFigureOut">
              <a:rPr kumimoji="1" lang="zh-CN" altLang="en-US" smtClean="0"/>
              <a:t>2021/2/8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2913" y="1143000"/>
            <a:ext cx="5972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2D4FA-197A-6748-8C00-6A48E3CDB93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627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42913" y="1143000"/>
            <a:ext cx="59721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2D4FA-197A-6748-8C00-6A48E3CDB93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3510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42913" y="1143000"/>
            <a:ext cx="59721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2D4FA-197A-6748-8C00-6A48E3CDB93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805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2D4FA-197A-6748-8C00-6A48E3CDB93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1357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9136" y="1122363"/>
            <a:ext cx="99548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9136" y="3602038"/>
            <a:ext cx="9954816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1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612" y="1709739"/>
            <a:ext cx="1144803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612" y="4589464"/>
            <a:ext cx="1144803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82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525" y="1825625"/>
            <a:ext cx="564106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9501" y="1825625"/>
            <a:ext cx="564106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7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254" y="365126"/>
            <a:ext cx="1144803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254" y="1681163"/>
            <a:ext cx="56151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254" y="2505075"/>
            <a:ext cx="561513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19501" y="1681163"/>
            <a:ext cx="56427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19501" y="2505075"/>
            <a:ext cx="56427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6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8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5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254" y="457200"/>
            <a:ext cx="428091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2791" y="987426"/>
            <a:ext cx="67195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254" y="2057400"/>
            <a:ext cx="428091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254" y="457200"/>
            <a:ext cx="428091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2791" y="987426"/>
            <a:ext cx="67195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254" y="2057400"/>
            <a:ext cx="428091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2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1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8553" y="365125"/>
            <a:ext cx="286201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525" y="365125"/>
            <a:ext cx="842011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2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525" y="365126"/>
            <a:ext cx="114480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525" y="1825625"/>
            <a:ext cx="114480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525" y="6356351"/>
            <a:ext cx="2986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4E9F2-5330-0F43-9C5C-DBF1E1501062}" type="datetimeFigureOut">
              <a:rPr lang="en-US" smtClean="0"/>
              <a:t>2/8/21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96711" y="6356351"/>
            <a:ext cx="4479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74118" y="6356351"/>
            <a:ext cx="2986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CDEEF-0469-DE45-8EDD-40F78FA88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60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2EA6-D7A0-2441-BDE9-3709BED06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0591" y="1543755"/>
            <a:ext cx="8671905" cy="2387600"/>
          </a:xfrm>
        </p:spPr>
        <p:txBody>
          <a:bodyPr>
            <a:noAutofit/>
          </a:bodyPr>
          <a:lstStyle/>
          <a:p>
            <a:r>
              <a:rPr lang="en-US" altLang="zh-CN" sz="4800" dirty="0"/>
              <a:t>Development of computational methods for vessel segmentation from mice brain images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0EF579-6C47-BA41-9FBB-2449337D0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4543" y="5202238"/>
            <a:ext cx="9144000" cy="1655762"/>
          </a:xfrm>
        </p:spPr>
        <p:txBody>
          <a:bodyPr/>
          <a:lstStyle/>
          <a:p>
            <a:r>
              <a:rPr lang="en-US" dirty="0"/>
              <a:t>Cecilia </a:t>
            </a:r>
            <a:r>
              <a:rPr lang="en-US" dirty="0" err="1"/>
              <a:t>Xue</a:t>
            </a:r>
            <a:endParaRPr lang="en-US" dirty="0"/>
          </a:p>
          <a:p>
            <a:r>
              <a:rPr lang="en-US" dirty="0"/>
              <a:t>2020.2.9</a:t>
            </a:r>
          </a:p>
        </p:txBody>
      </p:sp>
    </p:spTree>
    <p:extLst>
      <p:ext uri="{BB962C8B-B14F-4D97-AF65-F5344CB8AC3E}">
        <p14:creationId xmlns:p14="http://schemas.microsoft.com/office/powerpoint/2010/main" val="272507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2DBF-EA9B-8A46-8A35-573DFF66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C870-4F45-B641-BC3E-EFD4E7910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25" y="1825625"/>
            <a:ext cx="8151088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/>
              <a:t>Motivation:</a:t>
            </a:r>
          </a:p>
          <a:p>
            <a:r>
              <a:rPr lang="en-US" altLang="zh-CN" dirty="0"/>
              <a:t>Previous approach—Label by hands </a:t>
            </a:r>
            <a:r>
              <a:rPr lang="en-US" altLang="zh-CN" i="1" u="sng" dirty="0"/>
              <a:t>(Time consuming)</a:t>
            </a:r>
          </a:p>
          <a:p>
            <a:r>
              <a:rPr lang="en-US" altLang="zh-CN" dirty="0"/>
              <a:t>Current approach— Develop an automated process to segment separate vessels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Requirements: </a:t>
            </a:r>
          </a:p>
          <a:p>
            <a:pPr marL="0" indent="0">
              <a:buNone/>
            </a:pPr>
            <a:r>
              <a:rPr lang="en-US" altLang="zh-CN" dirty="0"/>
              <a:t>The segmentation process should be totally automatic, from the raw data to the final results. </a:t>
            </a:r>
          </a:p>
          <a:p>
            <a:pPr marL="0" indent="0">
              <a:buNone/>
            </a:pPr>
            <a:r>
              <a:rPr lang="en-US" altLang="zh-CN" dirty="0"/>
              <a:t>Goal 1: Generate accurate segmentation masks automatically for vessels in PAM images.</a:t>
            </a:r>
          </a:p>
          <a:p>
            <a:pPr marL="0" indent="0">
              <a:buNone/>
            </a:pPr>
            <a:r>
              <a:rPr lang="en-US" altLang="zh-CN" dirty="0"/>
              <a:t>Goal 2: The same vessel should be present in all images of a set of the same mouse but acquiring at different time.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E22A3-9E84-9B4C-A133-790D852AB7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360" r="16503" b="10102"/>
          <a:stretch/>
        </p:blipFill>
        <p:spPr>
          <a:xfrm>
            <a:off x="9331052" y="4111703"/>
            <a:ext cx="2150196" cy="20882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93EB8A-952B-2245-9623-AF1566A28E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610" r="16253" b="10102"/>
          <a:stretch/>
        </p:blipFill>
        <p:spPr>
          <a:xfrm>
            <a:off x="9303676" y="1340707"/>
            <a:ext cx="2150195" cy="2088293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8A4322D-61D7-FA46-9CCE-FF903052AD41}"/>
              </a:ext>
            </a:extLst>
          </p:cNvPr>
          <p:cNvSpPr txBox="1"/>
          <p:nvPr/>
        </p:nvSpPr>
        <p:spPr>
          <a:xfrm>
            <a:off x="9405434" y="6148923"/>
            <a:ext cx="20484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Results 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2341AAA-51B3-EF46-8A04-60766E35016E}"/>
              </a:ext>
            </a:extLst>
          </p:cNvPr>
          <p:cNvSpPr txBox="1"/>
          <p:nvPr/>
        </p:nvSpPr>
        <p:spPr>
          <a:xfrm>
            <a:off x="9354553" y="3396623"/>
            <a:ext cx="20484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Raw data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EC0DD3-14AE-F741-A79B-50ADEAA28135}"/>
              </a:ext>
            </a:extLst>
          </p:cNvPr>
          <p:cNvSpPr/>
          <p:nvPr/>
        </p:nvSpPr>
        <p:spPr>
          <a:xfrm>
            <a:off x="914696" y="4767987"/>
            <a:ext cx="8148917" cy="1382081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273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F2DF-1A92-8042-A380-976EA253D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881" y="-928"/>
            <a:ext cx="11448038" cy="1325563"/>
          </a:xfrm>
        </p:spPr>
        <p:txBody>
          <a:bodyPr/>
          <a:lstStyle/>
          <a:p>
            <a:r>
              <a:rPr kumimoji="1" lang="en-US" altLang="zh-CN" dirty="0"/>
              <a:t>Method</a:t>
            </a:r>
            <a:endParaRPr kumimoji="1" lang="zh-CN" altLang="en-US" dirty="0"/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1DC41F43-AC1C-3948-BA1D-907509F582D2}"/>
              </a:ext>
            </a:extLst>
          </p:cNvPr>
          <p:cNvSpPr/>
          <p:nvPr/>
        </p:nvSpPr>
        <p:spPr>
          <a:xfrm>
            <a:off x="523901" y="1669996"/>
            <a:ext cx="1325845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2D Projection 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514DF5D-76D2-4A40-A10E-45221995A4DD}"/>
              </a:ext>
            </a:extLst>
          </p:cNvPr>
          <p:cNvSpPr/>
          <p:nvPr/>
        </p:nvSpPr>
        <p:spPr>
          <a:xfrm>
            <a:off x="2237139" y="2894404"/>
            <a:ext cx="1710267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Layers Stacking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FADE4C7-4D64-0344-A05D-6EC5D39E517C}"/>
              </a:ext>
            </a:extLst>
          </p:cNvPr>
          <p:cNvSpPr/>
          <p:nvPr/>
        </p:nvSpPr>
        <p:spPr>
          <a:xfrm>
            <a:off x="4370942" y="2894404"/>
            <a:ext cx="1797007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SLAVV interface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4733CF-1902-FA42-A410-9A6D1057C884}"/>
              </a:ext>
            </a:extLst>
          </p:cNvPr>
          <p:cNvSpPr/>
          <p:nvPr/>
        </p:nvSpPr>
        <p:spPr>
          <a:xfrm>
            <a:off x="6466283" y="2894404"/>
            <a:ext cx="1710267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Vertices &amp; volumes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38F949-4984-5748-9EC0-EE206B328D5A}"/>
              </a:ext>
            </a:extLst>
          </p:cNvPr>
          <p:cNvSpPr/>
          <p:nvPr/>
        </p:nvSpPr>
        <p:spPr>
          <a:xfrm>
            <a:off x="8479042" y="2894404"/>
            <a:ext cx="1399141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Vessel centerlines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397DE-4244-5E4F-8D76-F9B05A09AA77}"/>
              </a:ext>
            </a:extLst>
          </p:cNvPr>
          <p:cNvSpPr/>
          <p:nvPr/>
        </p:nvSpPr>
        <p:spPr>
          <a:xfrm>
            <a:off x="10052118" y="2897700"/>
            <a:ext cx="1509255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Find vessel around each centerline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831C8F-6521-C04B-90A8-E072A7DC96BD}"/>
              </a:ext>
            </a:extLst>
          </p:cNvPr>
          <p:cNvSpPr/>
          <p:nvPr/>
        </p:nvSpPr>
        <p:spPr>
          <a:xfrm>
            <a:off x="11923919" y="2894404"/>
            <a:ext cx="1184126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 masks</a:t>
            </a:r>
          </a:p>
        </p:txBody>
      </p:sp>
      <p:cxnSp>
        <p:nvCxnSpPr>
          <p:cNvPr id="11" name="Straight Arrow Connector 13">
            <a:extLst>
              <a:ext uri="{FF2B5EF4-FFF2-40B4-BE49-F238E27FC236}">
                <a16:creationId xmlns:a16="http://schemas.microsoft.com/office/drawing/2014/main" id="{7DF579B7-2335-684E-9580-6B71A818627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947405" y="3283871"/>
            <a:ext cx="423536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5">
            <a:extLst>
              <a:ext uri="{FF2B5EF4-FFF2-40B4-BE49-F238E27FC236}">
                <a16:creationId xmlns:a16="http://schemas.microsoft.com/office/drawing/2014/main" id="{05A974EC-E8FF-9748-9AB5-D884E394CC3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167949" y="3283871"/>
            <a:ext cx="29833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7">
            <a:extLst>
              <a:ext uri="{FF2B5EF4-FFF2-40B4-BE49-F238E27FC236}">
                <a16:creationId xmlns:a16="http://schemas.microsoft.com/office/drawing/2014/main" id="{68CAB3DF-A705-404E-945E-D99E954ECBF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176549" y="3283871"/>
            <a:ext cx="302492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9">
            <a:extLst>
              <a:ext uri="{FF2B5EF4-FFF2-40B4-BE49-F238E27FC236}">
                <a16:creationId xmlns:a16="http://schemas.microsoft.com/office/drawing/2014/main" id="{6A2231D8-EA7B-9F4C-AE02-43E0F21CF49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878183" y="3283871"/>
            <a:ext cx="173935" cy="329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21">
            <a:extLst>
              <a:ext uri="{FF2B5EF4-FFF2-40B4-BE49-F238E27FC236}">
                <a16:creationId xmlns:a16="http://schemas.microsoft.com/office/drawing/2014/main" id="{A1B5314E-E1A1-D441-AC4C-2BF5D4D72F2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1561373" y="3283871"/>
            <a:ext cx="362546" cy="329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29A77818-6504-B940-8B82-205F7790AD4C}"/>
              </a:ext>
            </a:extLst>
          </p:cNvPr>
          <p:cNvSpPr/>
          <p:nvPr/>
        </p:nvSpPr>
        <p:spPr>
          <a:xfrm>
            <a:off x="2237139" y="1669996"/>
            <a:ext cx="1710267" cy="778934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Pre-processing</a:t>
            </a:r>
          </a:p>
        </p:txBody>
      </p: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22BE7600-0406-9B46-8D2D-E061A4D285F5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>
            <a:off x="3092272" y="2448930"/>
            <a:ext cx="0" cy="44547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0">
            <a:extLst>
              <a:ext uri="{FF2B5EF4-FFF2-40B4-BE49-F238E27FC236}">
                <a16:creationId xmlns:a16="http://schemas.microsoft.com/office/drawing/2014/main" id="{3E40DF85-CB6F-AD44-8EC1-8F1B24F54815}"/>
              </a:ext>
            </a:extLst>
          </p:cNvPr>
          <p:cNvCxnSpPr>
            <a:cxnSpLocks/>
            <a:stCxn id="4" idx="3"/>
            <a:endCxn id="16" idx="1"/>
          </p:cNvCxnSpPr>
          <p:nvPr/>
        </p:nvCxnSpPr>
        <p:spPr>
          <a:xfrm>
            <a:off x="1849746" y="2059463"/>
            <a:ext cx="38739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A2B10B3-465C-1246-B4C2-C5CADE4A4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790" y="4066101"/>
            <a:ext cx="4817842" cy="2413162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B1EA079-9D5D-7343-B13C-23E7220BE530}"/>
              </a:ext>
            </a:extLst>
          </p:cNvPr>
          <p:cNvSpPr/>
          <p:nvPr/>
        </p:nvSpPr>
        <p:spPr>
          <a:xfrm>
            <a:off x="2111103" y="1535859"/>
            <a:ext cx="1998483" cy="228923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21CB9BB-BC61-4B49-9D9C-AA0285F9A5DA}"/>
              </a:ext>
            </a:extLst>
          </p:cNvPr>
          <p:cNvSpPr/>
          <p:nvPr/>
        </p:nvSpPr>
        <p:spPr>
          <a:xfrm>
            <a:off x="8324966" y="2817263"/>
            <a:ext cx="4835276" cy="10078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16005C-6A98-2E4F-8F45-DD1853FAFE85}"/>
              </a:ext>
            </a:extLst>
          </p:cNvPr>
          <p:cNvSpPr/>
          <p:nvPr/>
        </p:nvSpPr>
        <p:spPr>
          <a:xfrm>
            <a:off x="4235622" y="2806034"/>
            <a:ext cx="4003500" cy="1019062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5346D17-984D-3242-BFEC-4F63140E6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01" y="4030206"/>
            <a:ext cx="3962400" cy="2165350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45DC785-BC6A-F84C-8436-D41EA68CB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966" y="1153847"/>
            <a:ext cx="2030893" cy="1545824"/>
          </a:xfrm>
          <a:prstGeom prst="rect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</p:pic>
      <p:sp>
        <p:nvSpPr>
          <p:cNvPr id="25" name="TextBox 2">
            <a:extLst>
              <a:ext uri="{FF2B5EF4-FFF2-40B4-BE49-F238E27FC236}">
                <a16:creationId xmlns:a16="http://schemas.microsoft.com/office/drawing/2014/main" id="{84E98C3B-7D42-5647-9376-CA740A9C7A03}"/>
              </a:ext>
            </a:extLst>
          </p:cNvPr>
          <p:cNvSpPr txBox="1"/>
          <p:nvPr/>
        </p:nvSpPr>
        <p:spPr>
          <a:xfrm>
            <a:off x="89371" y="6271405"/>
            <a:ext cx="48314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sz="1000" dirty="0"/>
              <a:t>Segmentation-less, automated vascular vectorization robustly extracts neurovascular network statistics from in vivo two-photon images. Samuel A. </a:t>
            </a:r>
            <a:r>
              <a:rPr lang="en-US" sz="1000" dirty="0" err="1"/>
              <a:t>Mihelic</a:t>
            </a:r>
            <a:r>
              <a:rPr lang="en-US" sz="1000" dirty="0"/>
              <a:t>, William A. Sikora, Ahmed M. Hassan, Michael R. Williamson, Theresa A. Jones, Andrew K. Dunn</a:t>
            </a:r>
          </a:p>
        </p:txBody>
      </p:sp>
    </p:spTree>
    <p:extLst>
      <p:ext uri="{BB962C8B-B14F-4D97-AF65-F5344CB8AC3E}">
        <p14:creationId xmlns:p14="http://schemas.microsoft.com/office/powerpoint/2010/main" val="96819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D9E8D5F8-F8EE-B248-A385-0F310A3F6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213" y="68540"/>
            <a:ext cx="6070531" cy="111674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BBDA288-7A75-C34F-BC11-2A513FCD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2" y="-15957"/>
            <a:ext cx="11448038" cy="1325563"/>
          </a:xfrm>
        </p:spPr>
        <p:txBody>
          <a:bodyPr/>
          <a:lstStyle/>
          <a:p>
            <a:r>
              <a:rPr kumimoji="1" lang="en-US" altLang="zh-CN" dirty="0"/>
              <a:t>Results</a:t>
            </a:r>
            <a:endParaRPr kumimoji="1" lang="zh-CN" altLang="en-US" dirty="0"/>
          </a:p>
        </p:txBody>
      </p:sp>
      <p:sp>
        <p:nvSpPr>
          <p:cNvPr id="6" name="Right Arrow 12">
            <a:extLst>
              <a:ext uri="{FF2B5EF4-FFF2-40B4-BE49-F238E27FC236}">
                <a16:creationId xmlns:a16="http://schemas.microsoft.com/office/drawing/2014/main" id="{C4B0C252-A6BF-6446-8982-BDAE10F18464}"/>
              </a:ext>
            </a:extLst>
          </p:cNvPr>
          <p:cNvSpPr/>
          <p:nvPr/>
        </p:nvSpPr>
        <p:spPr>
          <a:xfrm rot="5400000">
            <a:off x="1702380" y="3558591"/>
            <a:ext cx="601178" cy="941852"/>
          </a:xfrm>
          <a:prstGeom prst="rightArrow">
            <a:avLst>
              <a:gd name="adj1" fmla="val 50000"/>
              <a:gd name="adj2" fmla="val 475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EF854D-8FB2-5A40-AA9B-8BE012D4D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92" y="1406622"/>
            <a:ext cx="2934374" cy="23082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F8618B-A3B1-9D44-996A-47348AD5F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792" y="4330106"/>
            <a:ext cx="2891336" cy="230821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7F8E935-A105-7445-84D6-87ED522B29C8}"/>
              </a:ext>
            </a:extLst>
          </p:cNvPr>
          <p:cNvSpPr txBox="1"/>
          <p:nvPr/>
        </p:nvSpPr>
        <p:spPr>
          <a:xfrm>
            <a:off x="1731618" y="3648109"/>
            <a:ext cx="550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Pixel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Value</a:t>
            </a:r>
          </a:p>
          <a:p>
            <a:r>
              <a:rPr lang="en-US" altLang="zh-CN" sz="1200" dirty="0">
                <a:solidFill>
                  <a:schemeClr val="bg1"/>
                </a:solidFill>
              </a:rPr>
              <a:t>^(1.5)</a:t>
            </a:r>
          </a:p>
          <a:p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089F3F-582F-214F-B11D-F3AE2C1A3A04}"/>
              </a:ext>
            </a:extLst>
          </p:cNvPr>
          <p:cNvSpPr/>
          <p:nvPr/>
        </p:nvSpPr>
        <p:spPr>
          <a:xfrm>
            <a:off x="7925060" y="23646"/>
            <a:ext cx="998964" cy="6018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A9AAA8-12DE-4946-9885-F1576D2C200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782"/>
          <a:stretch/>
        </p:blipFill>
        <p:spPr>
          <a:xfrm>
            <a:off x="3894179" y="1420718"/>
            <a:ext cx="1939396" cy="2308210"/>
          </a:xfrm>
          <a:prstGeom prst="rect">
            <a:avLst/>
          </a:prstGeom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15AF7E0-36C4-AD4F-9A61-DE5F54BAB38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201" t="5170" r="42077" b="5678"/>
          <a:stretch/>
        </p:blipFill>
        <p:spPr>
          <a:xfrm>
            <a:off x="3795227" y="4337134"/>
            <a:ext cx="2518698" cy="230821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56F971-890B-BF48-B082-FF00927BA4A4}"/>
              </a:ext>
            </a:extLst>
          </p:cNvPr>
          <p:cNvSpPr/>
          <p:nvPr/>
        </p:nvSpPr>
        <p:spPr>
          <a:xfrm>
            <a:off x="7925060" y="625525"/>
            <a:ext cx="998964" cy="503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05F6F1-C9F9-C84E-8DF1-1F8128FDD258}"/>
              </a:ext>
            </a:extLst>
          </p:cNvPr>
          <p:cNvSpPr/>
          <p:nvPr/>
        </p:nvSpPr>
        <p:spPr>
          <a:xfrm>
            <a:off x="8924024" y="623617"/>
            <a:ext cx="1952523" cy="5054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Right Arrow 12">
            <a:extLst>
              <a:ext uri="{FF2B5EF4-FFF2-40B4-BE49-F238E27FC236}">
                <a16:creationId xmlns:a16="http://schemas.microsoft.com/office/drawing/2014/main" id="{921102A2-7C50-4149-88F5-BA478BC1A335}"/>
              </a:ext>
            </a:extLst>
          </p:cNvPr>
          <p:cNvSpPr/>
          <p:nvPr/>
        </p:nvSpPr>
        <p:spPr>
          <a:xfrm>
            <a:off x="9611969" y="2592543"/>
            <a:ext cx="981483" cy="441721"/>
          </a:xfrm>
          <a:prstGeom prst="rightArrow">
            <a:avLst>
              <a:gd name="adj1" fmla="val 50000"/>
              <a:gd name="adj2" fmla="val 475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1">
            <a:extLst>
              <a:ext uri="{FF2B5EF4-FFF2-40B4-BE49-F238E27FC236}">
                <a16:creationId xmlns:a16="http://schemas.microsoft.com/office/drawing/2014/main" id="{508C9C04-A81D-EC4D-B495-9014A052E5E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933" t="23506" r="55400" b="9131"/>
          <a:stretch/>
        </p:blipFill>
        <p:spPr>
          <a:xfrm>
            <a:off x="6769278" y="1420718"/>
            <a:ext cx="2950170" cy="2308210"/>
          </a:xfrm>
          <a:prstGeom prst="rect">
            <a:avLst/>
          </a:prstGeom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6CEEB704-415F-F94F-ABE1-15114A3BDFC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6847" t="22167" r="4844" b="8859"/>
          <a:stretch/>
        </p:blipFill>
        <p:spPr>
          <a:xfrm>
            <a:off x="6656601" y="4390160"/>
            <a:ext cx="2910055" cy="2292229"/>
          </a:xfrm>
          <a:prstGeom prst="rect">
            <a:avLst/>
          </a:prstGeom>
        </p:spPr>
      </p:pic>
      <p:pic>
        <p:nvPicPr>
          <p:cNvPr id="19" name="Picture 17">
            <a:extLst>
              <a:ext uri="{FF2B5EF4-FFF2-40B4-BE49-F238E27FC236}">
                <a16:creationId xmlns:a16="http://schemas.microsoft.com/office/drawing/2014/main" id="{705BE9E7-2B9C-3842-A59C-532EADCC4FA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5406" t="5809" r="4028" b="9563"/>
          <a:stretch/>
        </p:blipFill>
        <p:spPr>
          <a:xfrm>
            <a:off x="9829410" y="4386526"/>
            <a:ext cx="2891336" cy="232226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3D26A3D-9DB7-4B4C-B2F1-14FB0D8886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6097" b="59245"/>
          <a:stretch/>
        </p:blipFill>
        <p:spPr>
          <a:xfrm>
            <a:off x="10744762" y="1912600"/>
            <a:ext cx="1581723" cy="940705"/>
          </a:xfrm>
          <a:prstGeom prst="rect">
            <a:avLst/>
          </a:prstGeom>
        </p:spPr>
      </p:pic>
      <p:pic>
        <p:nvPicPr>
          <p:cNvPr id="24" name="Picture 14">
            <a:extLst>
              <a:ext uri="{FF2B5EF4-FFF2-40B4-BE49-F238E27FC236}">
                <a16:creationId xmlns:a16="http://schemas.microsoft.com/office/drawing/2014/main" id="{6A7F1F30-0F7B-AE44-826D-7583952B16E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6847" t="22167" r="22205" b="51682"/>
          <a:stretch/>
        </p:blipFill>
        <p:spPr>
          <a:xfrm>
            <a:off x="10744762" y="2936778"/>
            <a:ext cx="1581723" cy="863888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059DAF11-7378-F946-AA9D-C79EE71D1D35}"/>
              </a:ext>
            </a:extLst>
          </p:cNvPr>
          <p:cNvSpPr/>
          <p:nvPr/>
        </p:nvSpPr>
        <p:spPr>
          <a:xfrm>
            <a:off x="10655151" y="1748582"/>
            <a:ext cx="1787253" cy="21989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321DEC5-602A-6C49-A9DF-3EBA972F4C65}"/>
              </a:ext>
            </a:extLst>
          </p:cNvPr>
          <p:cNvSpPr/>
          <p:nvPr/>
        </p:nvSpPr>
        <p:spPr>
          <a:xfrm>
            <a:off x="445852" y="1326381"/>
            <a:ext cx="3126970" cy="541606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4C06EBED-CFF7-5145-8497-179D984842BC}"/>
              </a:ext>
            </a:extLst>
          </p:cNvPr>
          <p:cNvSpPr/>
          <p:nvPr/>
        </p:nvSpPr>
        <p:spPr>
          <a:xfrm>
            <a:off x="281354" y="1182747"/>
            <a:ext cx="401934" cy="40193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12B9901-7C11-EC44-A35C-47C58DCB28B5}"/>
              </a:ext>
            </a:extLst>
          </p:cNvPr>
          <p:cNvSpPr/>
          <p:nvPr/>
        </p:nvSpPr>
        <p:spPr>
          <a:xfrm>
            <a:off x="3845251" y="1337776"/>
            <a:ext cx="2063180" cy="2391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5D50E5C-4201-9649-95C1-24099DEA306F}"/>
              </a:ext>
            </a:extLst>
          </p:cNvPr>
          <p:cNvSpPr/>
          <p:nvPr/>
        </p:nvSpPr>
        <p:spPr>
          <a:xfrm>
            <a:off x="3644929" y="1122474"/>
            <a:ext cx="401934" cy="40193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C2830A8-4336-2642-9BE3-BD1DC901F48F}"/>
              </a:ext>
            </a:extLst>
          </p:cNvPr>
          <p:cNvSpPr/>
          <p:nvPr/>
        </p:nvSpPr>
        <p:spPr>
          <a:xfrm>
            <a:off x="1227873" y="1127392"/>
            <a:ext cx="1562928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2060"/>
                </a:solidFill>
              </a:rPr>
              <a:t>Pre-processing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5BBD0A-864D-4249-B79B-80271C6EB1EF}"/>
              </a:ext>
            </a:extLst>
          </p:cNvPr>
          <p:cNvSpPr/>
          <p:nvPr/>
        </p:nvSpPr>
        <p:spPr>
          <a:xfrm>
            <a:off x="4070278" y="1141304"/>
            <a:ext cx="1600631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2060"/>
                </a:solidFill>
              </a:rPr>
              <a:t>Layers Stacking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73C5B4-1B9D-E044-95D1-AAE85BCE5938}"/>
              </a:ext>
            </a:extLst>
          </p:cNvPr>
          <p:cNvSpPr/>
          <p:nvPr/>
        </p:nvSpPr>
        <p:spPr>
          <a:xfrm>
            <a:off x="3838949" y="4330106"/>
            <a:ext cx="2518698" cy="241233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8388A4B-DA90-4B42-B69B-7CC80BDE3E84}"/>
              </a:ext>
            </a:extLst>
          </p:cNvPr>
          <p:cNvSpPr/>
          <p:nvPr/>
        </p:nvSpPr>
        <p:spPr>
          <a:xfrm>
            <a:off x="3645625" y="4098050"/>
            <a:ext cx="401934" cy="40193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9C03EC9-607D-E645-97CC-B965228934F6}"/>
              </a:ext>
            </a:extLst>
          </p:cNvPr>
          <p:cNvSpPr/>
          <p:nvPr/>
        </p:nvSpPr>
        <p:spPr>
          <a:xfrm>
            <a:off x="10874713" y="621810"/>
            <a:ext cx="800731" cy="50542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1C0FCF2-2D70-A94B-89C7-F418F52ED091}"/>
              </a:ext>
            </a:extLst>
          </p:cNvPr>
          <p:cNvSpPr/>
          <p:nvPr/>
        </p:nvSpPr>
        <p:spPr>
          <a:xfrm>
            <a:off x="6646169" y="1335871"/>
            <a:ext cx="2910055" cy="239115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7CB2099D-C70B-E54D-9FB1-152A87FA34E3}"/>
              </a:ext>
            </a:extLst>
          </p:cNvPr>
          <p:cNvSpPr/>
          <p:nvPr/>
        </p:nvSpPr>
        <p:spPr>
          <a:xfrm>
            <a:off x="6435577" y="1177328"/>
            <a:ext cx="401934" cy="40193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E2B4A5-EB66-5A49-B89A-8625864A3A64}"/>
              </a:ext>
            </a:extLst>
          </p:cNvPr>
          <p:cNvSpPr/>
          <p:nvPr/>
        </p:nvSpPr>
        <p:spPr>
          <a:xfrm>
            <a:off x="11675444" y="619887"/>
            <a:ext cx="1570300" cy="505422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955CAF2-BBE8-4645-A27C-C5DB3F83ADC1}"/>
              </a:ext>
            </a:extLst>
          </p:cNvPr>
          <p:cNvSpPr/>
          <p:nvPr/>
        </p:nvSpPr>
        <p:spPr>
          <a:xfrm>
            <a:off x="6636544" y="4330106"/>
            <a:ext cx="2950170" cy="2412338"/>
          </a:xfrm>
          <a:prstGeom prst="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466B6B-5857-0341-9136-296F3B5B2C00}"/>
              </a:ext>
            </a:extLst>
          </p:cNvPr>
          <p:cNvSpPr/>
          <p:nvPr/>
        </p:nvSpPr>
        <p:spPr>
          <a:xfrm>
            <a:off x="4265602" y="4109774"/>
            <a:ext cx="1665392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2060"/>
                </a:solidFill>
              </a:rPr>
              <a:t>SLAVV Interface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880A2E5-EB9A-F64B-89B5-D47B5AE58505}"/>
              </a:ext>
            </a:extLst>
          </p:cNvPr>
          <p:cNvSpPr/>
          <p:nvPr/>
        </p:nvSpPr>
        <p:spPr>
          <a:xfrm>
            <a:off x="7172929" y="1155076"/>
            <a:ext cx="185653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2060"/>
                </a:solidFill>
              </a:rPr>
              <a:t>Vessel centerlines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10B59B57-DF57-9446-96E8-6286F8D38CBA}"/>
              </a:ext>
            </a:extLst>
          </p:cNvPr>
          <p:cNvSpPr/>
          <p:nvPr/>
        </p:nvSpPr>
        <p:spPr>
          <a:xfrm>
            <a:off x="6455634" y="4105622"/>
            <a:ext cx="401934" cy="401934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C00BFE2-D16D-0441-978B-6A3214751103}"/>
              </a:ext>
            </a:extLst>
          </p:cNvPr>
          <p:cNvSpPr/>
          <p:nvPr/>
        </p:nvSpPr>
        <p:spPr>
          <a:xfrm>
            <a:off x="7285936" y="4143533"/>
            <a:ext cx="1686424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2060"/>
                </a:solidFill>
              </a:rPr>
              <a:t>Generate masks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A367FE9-C19C-0B4B-9707-0B22DBA9D0C5}"/>
              </a:ext>
            </a:extLst>
          </p:cNvPr>
          <p:cNvSpPr/>
          <p:nvPr/>
        </p:nvSpPr>
        <p:spPr>
          <a:xfrm>
            <a:off x="10466844" y="4124916"/>
            <a:ext cx="1616468" cy="5232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002060"/>
                </a:solidFill>
              </a:rPr>
              <a:t>Segmented Vessels </a:t>
            </a:r>
          </a:p>
          <a:p>
            <a:pPr algn="ctr"/>
            <a:r>
              <a:rPr lang="en-US" altLang="zh-CN" sz="1400" dirty="0">
                <a:solidFill>
                  <a:srgbClr val="002060"/>
                </a:solidFill>
              </a:rPr>
              <a:t>(Hot Colormap)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FF0EF17-1AB2-9542-8ACA-2F1E9E6D1B72}"/>
              </a:ext>
            </a:extLst>
          </p:cNvPr>
          <p:cNvCxnSpPr>
            <a:cxnSpLocks/>
          </p:cNvCxnSpPr>
          <p:nvPr/>
        </p:nvCxnSpPr>
        <p:spPr>
          <a:xfrm>
            <a:off x="6433721" y="1107214"/>
            <a:ext cx="0" cy="5680672"/>
          </a:xfrm>
          <a:prstGeom prst="line">
            <a:avLst/>
          </a:prstGeom>
          <a:ln w="38100">
            <a:prstDash val="lg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69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DA288-7A75-C34F-BC11-2A513FCD4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52" y="-15957"/>
            <a:ext cx="11448038" cy="1325563"/>
          </a:xfrm>
        </p:spPr>
        <p:txBody>
          <a:bodyPr/>
          <a:lstStyle/>
          <a:p>
            <a:r>
              <a:rPr kumimoji="1" lang="en-US" altLang="zh-CN" dirty="0"/>
              <a:t>Results</a:t>
            </a:r>
            <a:endParaRPr kumimoji="1" lang="zh-CN" altLang="en-US" dirty="0"/>
          </a:p>
        </p:txBody>
      </p:sp>
      <p:pic>
        <p:nvPicPr>
          <p:cNvPr id="44" name="Picture 5">
            <a:extLst>
              <a:ext uri="{FF2B5EF4-FFF2-40B4-BE49-F238E27FC236}">
                <a16:creationId xmlns:a16="http://schemas.microsoft.com/office/drawing/2014/main" id="{F39E624F-A4B9-CB4F-B824-EB3F0DAC4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31" y="1982999"/>
            <a:ext cx="3081528" cy="2445203"/>
          </a:xfrm>
          <a:prstGeom prst="rect">
            <a:avLst/>
          </a:prstGeom>
        </p:spPr>
      </p:pic>
      <p:pic>
        <p:nvPicPr>
          <p:cNvPr id="45" name="Picture 14">
            <a:extLst>
              <a:ext uri="{FF2B5EF4-FFF2-40B4-BE49-F238E27FC236}">
                <a16:creationId xmlns:a16="http://schemas.microsoft.com/office/drawing/2014/main" id="{20362BE5-E966-AD49-9DDB-97612174A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681" y="2012063"/>
            <a:ext cx="3081528" cy="2432411"/>
          </a:xfrm>
          <a:prstGeom prst="rect">
            <a:avLst/>
          </a:prstGeom>
        </p:spPr>
      </p:pic>
      <p:pic>
        <p:nvPicPr>
          <p:cNvPr id="46" name="Picture 18">
            <a:extLst>
              <a:ext uri="{FF2B5EF4-FFF2-40B4-BE49-F238E27FC236}">
                <a16:creationId xmlns:a16="http://schemas.microsoft.com/office/drawing/2014/main" id="{87F88820-D694-E743-84D9-38E4EC91D3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630" y="2013570"/>
            <a:ext cx="3081528" cy="2430904"/>
          </a:xfrm>
          <a:prstGeom prst="rect">
            <a:avLst/>
          </a:prstGeom>
        </p:spPr>
      </p:pic>
      <p:sp>
        <p:nvSpPr>
          <p:cNvPr id="52" name="TextBox 22">
            <a:extLst>
              <a:ext uri="{FF2B5EF4-FFF2-40B4-BE49-F238E27FC236}">
                <a16:creationId xmlns:a16="http://schemas.microsoft.com/office/drawing/2014/main" id="{8EBC1FA9-689A-E24B-92EF-C5E381A7BF8B}"/>
              </a:ext>
            </a:extLst>
          </p:cNvPr>
          <p:cNvSpPr txBox="1"/>
          <p:nvPr/>
        </p:nvSpPr>
        <p:spPr>
          <a:xfrm>
            <a:off x="1701731" y="4416983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1</a:t>
            </a:r>
          </a:p>
        </p:txBody>
      </p:sp>
      <p:sp>
        <p:nvSpPr>
          <p:cNvPr id="53" name="TextBox 23">
            <a:extLst>
              <a:ext uri="{FF2B5EF4-FFF2-40B4-BE49-F238E27FC236}">
                <a16:creationId xmlns:a16="http://schemas.microsoft.com/office/drawing/2014/main" id="{A6548AD5-B669-3449-9CB3-3802435B2D18}"/>
              </a:ext>
            </a:extLst>
          </p:cNvPr>
          <p:cNvSpPr txBox="1"/>
          <p:nvPr/>
        </p:nvSpPr>
        <p:spPr>
          <a:xfrm>
            <a:off x="5156681" y="4444474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2</a:t>
            </a:r>
          </a:p>
        </p:txBody>
      </p:sp>
      <p:sp>
        <p:nvSpPr>
          <p:cNvPr id="54" name="TextBox 25">
            <a:extLst>
              <a:ext uri="{FF2B5EF4-FFF2-40B4-BE49-F238E27FC236}">
                <a16:creationId xmlns:a16="http://schemas.microsoft.com/office/drawing/2014/main" id="{D38B1459-D72B-7249-9D2D-50DA9E6A8365}"/>
              </a:ext>
            </a:extLst>
          </p:cNvPr>
          <p:cNvSpPr txBox="1"/>
          <p:nvPr/>
        </p:nvSpPr>
        <p:spPr>
          <a:xfrm>
            <a:off x="8611630" y="4444474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3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5119971C-8812-1A41-AE3C-C3CC9E855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730" y="5020236"/>
            <a:ext cx="9991427" cy="151531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Each input corresponds with a different PAM image of the same mouse brain at different days.</a:t>
            </a:r>
          </a:p>
          <a:p>
            <a:r>
              <a:rPr lang="en-US" altLang="zh-CN" dirty="0"/>
              <a:t>The process creates different but highly similar centerlines (’skeleton’) for each input.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CFC87A0-691D-D749-A01B-AFF8B021A713}"/>
              </a:ext>
            </a:extLst>
          </p:cNvPr>
          <p:cNvSpPr/>
          <p:nvPr/>
        </p:nvSpPr>
        <p:spPr>
          <a:xfrm>
            <a:off x="1611455" y="1898076"/>
            <a:ext cx="10174145" cy="29067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53"/>
          </a:p>
        </p:txBody>
      </p:sp>
    </p:spTree>
    <p:extLst>
      <p:ext uri="{BB962C8B-B14F-4D97-AF65-F5344CB8AC3E}">
        <p14:creationId xmlns:p14="http://schemas.microsoft.com/office/powerpoint/2010/main" val="116604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CF271-5FB4-4748-9EEE-CE1154E8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Future Steps &amp; Directions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EC5301-72C9-8A4F-8EEE-E91BEB9C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Integrate &amp; Optimize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Quantitative analysis ---&gt; Compare the effect of diseases (stroke) on those parameters in mice brain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5484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1F86D-6372-D344-BDDC-EC349E73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Takeaways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6B277-A89F-5743-ADCE-7D8996E9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Critical thinking and learn to make wise &amp; informed decisions</a:t>
            </a:r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Order of solving the problems doesn’t necessarily follow the order of the project workflow.</a:t>
            </a:r>
          </a:p>
        </p:txBody>
      </p:sp>
    </p:spTree>
    <p:extLst>
      <p:ext uri="{BB962C8B-B14F-4D97-AF65-F5344CB8AC3E}">
        <p14:creationId xmlns:p14="http://schemas.microsoft.com/office/powerpoint/2010/main" val="3569715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131F-CDEE-F141-8999-E6D658C1F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from previous chat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BD4CB-B046-6C4D-AB2E-C3CB6832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Dimension</a:t>
            </a:r>
          </a:p>
          <a:p>
            <a:pPr marL="0" indent="0">
              <a:buNone/>
            </a:pPr>
            <a:r>
              <a:rPr lang="en-US" altLang="zh-CN" sz="2400" dirty="0"/>
              <a:t>--300 x 36,000/350 x 39,600 (Y range, X range)</a:t>
            </a:r>
          </a:p>
          <a:p>
            <a:pPr marL="0" indent="0">
              <a:buNone/>
            </a:pPr>
            <a:r>
              <a:rPr lang="en-US" sz="2400" dirty="0"/>
              <a:t>--100 um/pixel &amp; 0.833 um/pixel (Y resolution, X resolution) </a:t>
            </a:r>
          </a:p>
          <a:p>
            <a:pPr marL="0" indent="0">
              <a:buNone/>
            </a:pPr>
            <a:r>
              <a:rPr lang="en-US" sz="2400" dirty="0"/>
              <a:t>--~3cm x 3cm/3.5cm x 3.3cm</a:t>
            </a:r>
          </a:p>
          <a:p>
            <a:r>
              <a:rPr lang="en-US" altLang="zh-CN" sz="2400" dirty="0"/>
              <a:t>Why noise?</a:t>
            </a:r>
          </a:p>
          <a:p>
            <a:pPr marL="0" indent="0">
              <a:buNone/>
            </a:pPr>
            <a:r>
              <a:rPr lang="en-US" altLang="zh-CN" sz="2400" i="1" u="sng" dirty="0"/>
              <a:t>----Thermal noise from the medium/transducer</a:t>
            </a:r>
            <a:r>
              <a:rPr lang="zh-CN" altLang="en-US" sz="2400" i="1" u="sng" dirty="0"/>
              <a:t> </a:t>
            </a:r>
            <a:r>
              <a:rPr lang="en-US" altLang="zh-CN" sz="2400" i="1" u="sng" dirty="0"/>
              <a:t>or electromagnetic interference</a:t>
            </a:r>
          </a:p>
          <a:p>
            <a:pPr marL="0" indent="0">
              <a:buNone/>
            </a:pPr>
            <a:r>
              <a:rPr lang="en-US" altLang="zh-CN" sz="2400" dirty="0"/>
              <a:t>----Intrinsic thermal noise from optical fiber</a:t>
            </a:r>
            <a:endParaRPr lang="en-US" sz="2400" dirty="0"/>
          </a:p>
          <a:p>
            <a:r>
              <a:rPr lang="en-US" sz="2400" dirty="0"/>
              <a:t>How the data is obtained √</a:t>
            </a:r>
          </a:p>
          <a:p>
            <a:r>
              <a:rPr lang="en-US" sz="2400" dirty="0"/>
              <a:t>Depth √</a:t>
            </a:r>
          </a:p>
          <a:p>
            <a:r>
              <a:rPr lang="en-US" sz="2400" dirty="0"/>
              <a:t>Goal of the project √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7B5A3B-0C84-E840-8B7E-62CA80EE1357}"/>
              </a:ext>
            </a:extLst>
          </p:cNvPr>
          <p:cNvSpPr/>
          <p:nvPr/>
        </p:nvSpPr>
        <p:spPr>
          <a:xfrm>
            <a:off x="8961120" y="2202180"/>
            <a:ext cx="1386840" cy="122682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621C32-ED28-E648-A63A-0FD04F77AA09}"/>
              </a:ext>
            </a:extLst>
          </p:cNvPr>
          <p:cNvSpPr txBox="1"/>
          <p:nvPr/>
        </p:nvSpPr>
        <p:spPr>
          <a:xfrm>
            <a:off x="9166265" y="342900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300/350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5C9812-7677-124F-87F8-FFD2B2B1FD43}"/>
              </a:ext>
            </a:extLst>
          </p:cNvPr>
          <p:cNvSpPr txBox="1"/>
          <p:nvPr/>
        </p:nvSpPr>
        <p:spPr>
          <a:xfrm>
            <a:off x="10347960" y="2695338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36,000/39,600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1338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E463F-F025-2A44-B728-D38196325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Issues encountered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8F713-A45F-DD46-BE34-723C15F20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525" y="1825624"/>
            <a:ext cx="11448038" cy="4943165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zh-CN" dirty="0"/>
              <a:t>1. U-Net model prediction approach:</a:t>
            </a:r>
          </a:p>
          <a:p>
            <a:pPr marL="0" indent="0">
              <a:buNone/>
            </a:pPr>
            <a:r>
              <a:rPr kumimoji="1" lang="en-US" altLang="zh-CN" dirty="0"/>
              <a:t>Input: raw data &amp; divided into 9 subparts for each input + augment each input with 2 transformation.</a:t>
            </a:r>
          </a:p>
          <a:p>
            <a:pPr marL="0" indent="0">
              <a:buNone/>
            </a:pPr>
            <a:r>
              <a:rPr kumimoji="1" lang="en-US" altLang="zh-CN" dirty="0"/>
              <a:t>Issue: </a:t>
            </a:r>
          </a:p>
          <a:p>
            <a:pPr marL="0" indent="0">
              <a:buNone/>
            </a:pPr>
            <a:r>
              <a:rPr kumimoji="1" lang="en-US" altLang="zh-CN" dirty="0"/>
              <a:t>--cannot work well for time series images (the images in a series that are acquired at different time only have minor morphology differences in vessels)</a:t>
            </a:r>
          </a:p>
          <a:p>
            <a:pPr marL="0" indent="0">
              <a:buNone/>
            </a:pPr>
            <a:r>
              <a:rPr kumimoji="1" lang="en-US" altLang="zh-CN" dirty="0"/>
              <a:t>--some tiny vessels/noises in the background decreases the prediction accuracy during the training process.</a:t>
            </a:r>
          </a:p>
          <a:p>
            <a:pPr marL="0" indent="0">
              <a:buNone/>
            </a:pPr>
            <a:r>
              <a:rPr kumimoji="1" lang="en-US" altLang="zh-CN" dirty="0"/>
              <a:t> --no accurately segmented labels available (use simulated image to train models and try to apply transfer learning approach, but the accuracy is still low).  </a:t>
            </a:r>
          </a:p>
          <a:p>
            <a:r>
              <a:rPr kumimoji="1" lang="en-US" altLang="zh-CN" dirty="0"/>
              <a:t>2. Vessel diameter calculation &amp; thresholding by a value</a:t>
            </a:r>
          </a:p>
          <a:p>
            <a:pPr marL="0" indent="0">
              <a:buNone/>
            </a:pPr>
            <a:r>
              <a:rPr kumimoji="1" lang="en-US" altLang="zh-CN" dirty="0"/>
              <a:t>Issue:</a:t>
            </a:r>
          </a:p>
          <a:p>
            <a:pPr marL="0" indent="0">
              <a:buNone/>
            </a:pPr>
            <a:r>
              <a:rPr kumimoji="1" lang="en-US" altLang="zh-CN" dirty="0"/>
              <a:t>--Across different time series images, the diameter might change and might cause problematic/not consistent segmentation results.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DE1C877-7D16-5C49-A9FF-2F0A77BB11A8}"/>
              </a:ext>
            </a:extLst>
          </p:cNvPr>
          <p:cNvSpPr txBox="1">
            <a:spLocks/>
          </p:cNvSpPr>
          <p:nvPr/>
        </p:nvSpPr>
        <p:spPr>
          <a:xfrm>
            <a:off x="6506720" y="500083"/>
            <a:ext cx="6317183" cy="10556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2000" dirty="0"/>
              <a:t>Focus on the specific image content---&gt;over focus on what the image had </a:t>
            </a:r>
            <a:r>
              <a:rPr kumimoji="1" lang="en-US" altLang="zh-CN" sz="2000" b="1" dirty="0"/>
              <a:t>(Start from nothing and add things)</a:t>
            </a:r>
          </a:p>
          <a:p>
            <a:pPr marL="0" indent="0">
              <a:buNone/>
            </a:pPr>
            <a:r>
              <a:rPr kumimoji="1" lang="en-US" altLang="zh-CN" sz="2000" dirty="0"/>
              <a:t>New approach (SLAVV):  Base on image content, discover some features and extract useful things (Start from 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60752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>
            <a:extLst>
              <a:ext uri="{FF2B5EF4-FFF2-40B4-BE49-F238E27FC236}">
                <a16:creationId xmlns:a16="http://schemas.microsoft.com/office/drawing/2014/main" id="{3B451BFB-6B03-F649-8064-970B8DA8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542" y="3058764"/>
            <a:ext cx="3081528" cy="2445203"/>
          </a:xfrm>
          <a:prstGeom prst="rect">
            <a:avLst/>
          </a:prstGeom>
        </p:spPr>
      </p:pic>
      <p:pic>
        <p:nvPicPr>
          <p:cNvPr id="5" name="Picture 14">
            <a:extLst>
              <a:ext uri="{FF2B5EF4-FFF2-40B4-BE49-F238E27FC236}">
                <a16:creationId xmlns:a16="http://schemas.microsoft.com/office/drawing/2014/main" id="{18E71E16-1F8E-A642-830D-76C87E976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492" y="3087828"/>
            <a:ext cx="3081528" cy="2432411"/>
          </a:xfrm>
          <a:prstGeom prst="rect">
            <a:avLst/>
          </a:prstGeom>
        </p:spPr>
      </p:pic>
      <p:pic>
        <p:nvPicPr>
          <p:cNvPr id="7" name="Picture 18">
            <a:extLst>
              <a:ext uri="{FF2B5EF4-FFF2-40B4-BE49-F238E27FC236}">
                <a16:creationId xmlns:a16="http://schemas.microsoft.com/office/drawing/2014/main" id="{E93AA6BE-64C8-5A4D-BB33-014B1F54E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441" y="3089335"/>
            <a:ext cx="3081528" cy="2430904"/>
          </a:xfrm>
          <a:prstGeom prst="rect">
            <a:avLst/>
          </a:prstGeom>
        </p:spPr>
      </p:pic>
      <p:pic>
        <p:nvPicPr>
          <p:cNvPr id="8" name="Picture 19">
            <a:extLst>
              <a:ext uri="{FF2B5EF4-FFF2-40B4-BE49-F238E27FC236}">
                <a16:creationId xmlns:a16="http://schemas.microsoft.com/office/drawing/2014/main" id="{506F70F2-6D81-004B-940A-771AA4BFD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441" y="413314"/>
            <a:ext cx="2991653" cy="2467046"/>
          </a:xfrm>
          <a:prstGeom prst="rect">
            <a:avLst/>
          </a:prstGeom>
        </p:spPr>
      </p:pic>
      <p:pic>
        <p:nvPicPr>
          <p:cNvPr id="9" name="Picture 20">
            <a:extLst>
              <a:ext uri="{FF2B5EF4-FFF2-40B4-BE49-F238E27FC236}">
                <a16:creationId xmlns:a16="http://schemas.microsoft.com/office/drawing/2014/main" id="{3DFE61FF-B83B-094D-B1F6-360C3E2391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0492" y="408176"/>
            <a:ext cx="3081528" cy="2459436"/>
          </a:xfrm>
          <a:prstGeom prst="rect">
            <a:avLst/>
          </a:prstGeom>
        </p:spPr>
      </p:pic>
      <p:sp>
        <p:nvSpPr>
          <p:cNvPr id="10" name="TextBox 21">
            <a:extLst>
              <a:ext uri="{FF2B5EF4-FFF2-40B4-BE49-F238E27FC236}">
                <a16:creationId xmlns:a16="http://schemas.microsoft.com/office/drawing/2014/main" id="{E228B364-661B-C248-B41A-A846DDB92BB8}"/>
              </a:ext>
            </a:extLst>
          </p:cNvPr>
          <p:cNvSpPr txBox="1"/>
          <p:nvPr/>
        </p:nvSpPr>
        <p:spPr>
          <a:xfrm>
            <a:off x="10559240" y="351609"/>
            <a:ext cx="1333673" cy="58477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Output from </a:t>
            </a:r>
            <a:r>
              <a:rPr lang="en-US" sz="1600" b="1" dirty="0"/>
              <a:t>raw data</a:t>
            </a: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EE932818-F053-6242-968A-2AF75AEB43B0}"/>
              </a:ext>
            </a:extLst>
          </p:cNvPr>
          <p:cNvSpPr txBox="1"/>
          <p:nvPr/>
        </p:nvSpPr>
        <p:spPr>
          <a:xfrm>
            <a:off x="1495542" y="20378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1</a:t>
            </a:r>
          </a:p>
        </p:txBody>
      </p:sp>
      <p:sp>
        <p:nvSpPr>
          <p:cNvPr id="12" name="TextBox 23">
            <a:extLst>
              <a:ext uri="{FF2B5EF4-FFF2-40B4-BE49-F238E27FC236}">
                <a16:creationId xmlns:a16="http://schemas.microsoft.com/office/drawing/2014/main" id="{74C92B2C-4850-7B4A-A06A-53DBC8159FCC}"/>
              </a:ext>
            </a:extLst>
          </p:cNvPr>
          <p:cNvSpPr txBox="1"/>
          <p:nvPr/>
        </p:nvSpPr>
        <p:spPr>
          <a:xfrm>
            <a:off x="4941639" y="28452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2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8028E7A9-13C7-354B-B850-0DDFADB90414}"/>
              </a:ext>
            </a:extLst>
          </p:cNvPr>
          <p:cNvSpPr txBox="1"/>
          <p:nvPr/>
        </p:nvSpPr>
        <p:spPr>
          <a:xfrm>
            <a:off x="8387736" y="-302"/>
            <a:ext cx="308152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0" b="1" dirty="0"/>
              <a:t>Input 3</a:t>
            </a:r>
          </a:p>
        </p:txBody>
      </p:sp>
      <p:pic>
        <p:nvPicPr>
          <p:cNvPr id="15" name="Picture 26">
            <a:extLst>
              <a:ext uri="{FF2B5EF4-FFF2-40B4-BE49-F238E27FC236}">
                <a16:creationId xmlns:a16="http://schemas.microsoft.com/office/drawing/2014/main" id="{8F60D876-C11D-E542-9667-5383E9811F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542" y="408176"/>
            <a:ext cx="3081528" cy="2414101"/>
          </a:xfrm>
          <a:prstGeom prst="rect">
            <a:avLst/>
          </a:prstGeom>
        </p:spPr>
      </p:pic>
      <p:sp>
        <p:nvSpPr>
          <p:cNvPr id="17" name="TextBox 28">
            <a:extLst>
              <a:ext uri="{FF2B5EF4-FFF2-40B4-BE49-F238E27FC236}">
                <a16:creationId xmlns:a16="http://schemas.microsoft.com/office/drawing/2014/main" id="{5172E124-596E-554F-B7A9-CF5F18869E44}"/>
              </a:ext>
            </a:extLst>
          </p:cNvPr>
          <p:cNvSpPr txBox="1"/>
          <p:nvPr/>
        </p:nvSpPr>
        <p:spPr>
          <a:xfrm>
            <a:off x="10577975" y="3088582"/>
            <a:ext cx="1333673" cy="830997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Output from </a:t>
            </a:r>
            <a:r>
              <a:rPr lang="en-US" sz="1600" b="1" dirty="0"/>
              <a:t>powered data</a:t>
            </a:r>
          </a:p>
        </p:txBody>
      </p:sp>
      <p:sp>
        <p:nvSpPr>
          <p:cNvPr id="18" name="Oval 2">
            <a:extLst>
              <a:ext uri="{FF2B5EF4-FFF2-40B4-BE49-F238E27FC236}">
                <a16:creationId xmlns:a16="http://schemas.microsoft.com/office/drawing/2014/main" id="{22D2B688-3B67-8A40-BF7F-40CA0B5E5C50}"/>
              </a:ext>
            </a:extLst>
          </p:cNvPr>
          <p:cNvSpPr/>
          <p:nvPr/>
        </p:nvSpPr>
        <p:spPr>
          <a:xfrm>
            <a:off x="9443535" y="708654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30">
            <a:extLst>
              <a:ext uri="{FF2B5EF4-FFF2-40B4-BE49-F238E27FC236}">
                <a16:creationId xmlns:a16="http://schemas.microsoft.com/office/drawing/2014/main" id="{33CADA5A-3DC6-A747-8F6B-2F70F3DC4B5E}"/>
              </a:ext>
            </a:extLst>
          </p:cNvPr>
          <p:cNvSpPr/>
          <p:nvPr/>
        </p:nvSpPr>
        <p:spPr>
          <a:xfrm>
            <a:off x="9410079" y="3444653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F53F6A96-9060-4445-8411-C2DCEFE93A6E}"/>
              </a:ext>
            </a:extLst>
          </p:cNvPr>
          <p:cNvSpPr/>
          <p:nvPr/>
        </p:nvSpPr>
        <p:spPr>
          <a:xfrm>
            <a:off x="8912053" y="1318267"/>
            <a:ext cx="1232708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32">
            <a:extLst>
              <a:ext uri="{FF2B5EF4-FFF2-40B4-BE49-F238E27FC236}">
                <a16:creationId xmlns:a16="http://schemas.microsoft.com/office/drawing/2014/main" id="{68769FD6-152F-7642-BFBA-C7501EBF9365}"/>
              </a:ext>
            </a:extLst>
          </p:cNvPr>
          <p:cNvSpPr/>
          <p:nvPr/>
        </p:nvSpPr>
        <p:spPr>
          <a:xfrm>
            <a:off x="8793725" y="3981083"/>
            <a:ext cx="1232708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35">
            <a:extLst>
              <a:ext uri="{FF2B5EF4-FFF2-40B4-BE49-F238E27FC236}">
                <a16:creationId xmlns:a16="http://schemas.microsoft.com/office/drawing/2014/main" id="{DF70787D-6306-6C43-8701-181DD384213C}"/>
              </a:ext>
            </a:extLst>
          </p:cNvPr>
          <p:cNvSpPr/>
          <p:nvPr/>
        </p:nvSpPr>
        <p:spPr>
          <a:xfrm>
            <a:off x="9528407" y="1973787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36">
            <a:extLst>
              <a:ext uri="{FF2B5EF4-FFF2-40B4-BE49-F238E27FC236}">
                <a16:creationId xmlns:a16="http://schemas.microsoft.com/office/drawing/2014/main" id="{D101CD99-DDAE-C043-80F7-733499C4A798}"/>
              </a:ext>
            </a:extLst>
          </p:cNvPr>
          <p:cNvSpPr/>
          <p:nvPr/>
        </p:nvSpPr>
        <p:spPr>
          <a:xfrm>
            <a:off x="9477608" y="4750661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38">
            <a:extLst>
              <a:ext uri="{FF2B5EF4-FFF2-40B4-BE49-F238E27FC236}">
                <a16:creationId xmlns:a16="http://schemas.microsoft.com/office/drawing/2014/main" id="{2CC08AC3-00FC-224D-BCB8-6DD3275FB9F4}"/>
              </a:ext>
            </a:extLst>
          </p:cNvPr>
          <p:cNvSpPr/>
          <p:nvPr/>
        </p:nvSpPr>
        <p:spPr>
          <a:xfrm>
            <a:off x="5981817" y="3193217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39">
            <a:extLst>
              <a:ext uri="{FF2B5EF4-FFF2-40B4-BE49-F238E27FC236}">
                <a16:creationId xmlns:a16="http://schemas.microsoft.com/office/drawing/2014/main" id="{9B9CD3DF-3BF8-4240-AE07-D24FD2B6F086}"/>
              </a:ext>
            </a:extLst>
          </p:cNvPr>
          <p:cNvSpPr/>
          <p:nvPr/>
        </p:nvSpPr>
        <p:spPr>
          <a:xfrm>
            <a:off x="6116575" y="468944"/>
            <a:ext cx="599626" cy="501363"/>
          </a:xfrm>
          <a:prstGeom prst="ellipse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0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2658</TotalTime>
  <Words>558</Words>
  <Application>Microsoft Macintosh PowerPoint</Application>
  <PresentationFormat>自定义</PresentationFormat>
  <Paragraphs>90</Paragraphs>
  <Slides>10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Arial</vt:lpstr>
      <vt:lpstr>Calibri</vt:lpstr>
      <vt:lpstr>Calibri Light</vt:lpstr>
      <vt:lpstr>Office Theme</vt:lpstr>
      <vt:lpstr>Development of computational methods for vessel segmentation from mice brain images</vt:lpstr>
      <vt:lpstr>Motivation &amp; Goal</vt:lpstr>
      <vt:lpstr>Method</vt:lpstr>
      <vt:lpstr>Results</vt:lpstr>
      <vt:lpstr>Results</vt:lpstr>
      <vt:lpstr>Future Steps &amp; Directions</vt:lpstr>
      <vt:lpstr>Takeaways</vt:lpstr>
      <vt:lpstr>Question from previous chat</vt:lpstr>
      <vt:lpstr>Issues encountered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computational methods to do vessel segmentation of mice brain images</dc:title>
  <dc:creator>Xue, Cecilia</dc:creator>
  <cp:lastModifiedBy>Xue, Cecilia</cp:lastModifiedBy>
  <cp:revision>507</cp:revision>
  <dcterms:created xsi:type="dcterms:W3CDTF">2021-02-07T01:09:21Z</dcterms:created>
  <dcterms:modified xsi:type="dcterms:W3CDTF">2021-02-09T19:45:37Z</dcterms:modified>
</cp:coreProperties>
</file>